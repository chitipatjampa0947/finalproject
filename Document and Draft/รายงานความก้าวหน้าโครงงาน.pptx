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Sarabun"/>
      <p:regular r:id="rId19"/>
      <p:bold r:id="rId20"/>
      <p:italic r:id="rId21"/>
      <p:boldItalic r:id="rId22"/>
    </p:embeddedFont>
    <p:embeddedFont>
      <p:font typeface="Poppins"/>
      <p:regular r:id="rId23"/>
      <p:bold r:id="rId24"/>
      <p:italic r:id="rId25"/>
      <p:boldItalic r:id="rId26"/>
    </p:embeddedFont>
    <p:embeddedFont>
      <p:font typeface="Poppins Medium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928FC53-3159-4281-8B6D-A2CF8C9325DC}">
  <a:tblStyle styleId="{1928FC53-3159-4281-8B6D-A2CF8C9325D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arabun-bold.fntdata"/><Relationship Id="rId22" Type="http://schemas.openxmlformats.org/officeDocument/2006/relationships/font" Target="fonts/Sarabun-boldItalic.fntdata"/><Relationship Id="rId21" Type="http://schemas.openxmlformats.org/officeDocument/2006/relationships/font" Target="fonts/Sarabun-italic.fntdata"/><Relationship Id="rId24" Type="http://schemas.openxmlformats.org/officeDocument/2006/relationships/font" Target="fonts/Poppins-bold.fntdata"/><Relationship Id="rId23" Type="http://schemas.openxmlformats.org/officeDocument/2006/relationships/font" Target="fonts/Poppins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Poppins-boldItalic.fntdata"/><Relationship Id="rId25" Type="http://schemas.openxmlformats.org/officeDocument/2006/relationships/font" Target="fonts/Poppins-italic.fntdata"/><Relationship Id="rId28" Type="http://schemas.openxmlformats.org/officeDocument/2006/relationships/font" Target="fonts/PoppinsMedium-bold.fntdata"/><Relationship Id="rId27" Type="http://schemas.openxmlformats.org/officeDocument/2006/relationships/font" Target="fonts/PoppinsMedium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PoppinsMedium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PoppinsMedium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Sarabun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3.png"/><Relationship Id="rId7" Type="http://schemas.openxmlformats.org/officeDocument/2006/relationships/image" Target="../media/image16.png"/><Relationship Id="rId8" Type="http://schemas.openxmlformats.org/officeDocument/2006/relationships/image" Target="../media/image2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.png"/><Relationship Id="rId11" Type="http://schemas.openxmlformats.org/officeDocument/2006/relationships/image" Target="../media/image7.png"/><Relationship Id="rId10" Type="http://schemas.openxmlformats.org/officeDocument/2006/relationships/image" Target="../media/image2.png"/><Relationship Id="rId12" Type="http://schemas.openxmlformats.org/officeDocument/2006/relationships/image" Target="../media/image8.png"/><Relationship Id="rId9" Type="http://schemas.openxmlformats.org/officeDocument/2006/relationships/image" Target="../media/image13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2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2.png"/><Relationship Id="rId7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1472654"/>
            <a:ext cx="11601450" cy="1340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ระบบตรวจจับข้อความ </a:t>
            </a:r>
            <a:r>
              <a:rPr b="1" i="0" lang="en-US" sz="48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AI</a:t>
            </a:r>
            <a:r>
              <a:rPr b="1" i="0" lang="en-US" sz="4800" u="none" cap="none" strike="noStrik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 สำหรับภาษาไทยและอังกฤษแบบผสม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099345"/>
            <a:ext cx="1104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โครงการวิจัยความก้าวหน้า (Oral Presentation)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337595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ผู้เขียน: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นายชิติพัทธ์ จำปา | </a:t>
            </a: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อาจารย์ที่ปรึกษา: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ผศ.ดร.ปกรณ์ ลี้สุทธิพรชัย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4861470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สาขาวิชาวิทยาการคอมพิวเตอร์ คณะวิทยาศาสตร์และเทคโนโลยี มหาวิทยาลัยธรรมศาสตร์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24600" y="2100262"/>
            <a:ext cx="529590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ความสำคัญของ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โครงการ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2309812"/>
            <a:ext cx="52768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การเติบโตของ LLMs นำมาซึ่งความท้าทายใหม่ในประเทศไทย: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52500" y="2833687"/>
            <a:ext cx="48958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ความซับซ้อนของการใช้ภาษาไทยปนอังกฤษ (Code-switching)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52500" y="3652837"/>
            <a:ext cx="48958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ความกังวลด้านความเป็นส่วนตัว (Data Privacy)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52500" y="4157662"/>
            <a:ext cx="48958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ข้อจำกัดของระบบเดิมที่ต้องพึ่งพา Server-side</a:t>
            </a:r>
            <a:endParaRPr/>
          </a:p>
        </p:txBody>
      </p:sp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905125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724275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229100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8">
            <a:alphaModFix/>
          </a:blip>
          <a:srcRect b="-6671" l="-2303" r="-1918" t="-6208"/>
          <a:stretch/>
        </p:blipFill>
        <p:spPr>
          <a:xfrm>
            <a:off x="6324600" y="2100250"/>
            <a:ext cx="5276851" cy="380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8" name="Google Shape;10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47925"/>
            <a:ext cx="3555950" cy="3114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17950" y="2447925"/>
            <a:ext cx="3555950" cy="3114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2447925"/>
            <a:ext cx="3556099" cy="311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วัตถุประสงค์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หลัก</a:t>
            </a:r>
            <a:endParaRPr/>
          </a:p>
        </p:txBody>
      </p:sp>
      <p:pic>
        <p:nvPicPr>
          <p:cNvPr descr="image.png" id="113" name="Google Shape;113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274320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866775" y="3505200"/>
            <a:ext cx="311367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การจำแนก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66775" y="4114800"/>
            <a:ext cx="2965400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พัฒนาแบบจำลอง WangchanBERTa เพื่อจำแนกข้อความภาษาผสมได้อย่างแม่นยำ</a:t>
            </a:r>
            <a:endParaRPr/>
          </a:p>
        </p:txBody>
      </p:sp>
      <p:pic>
        <p:nvPicPr>
          <p:cNvPr descr="image.png" id="116" name="Google Shape;116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13225" y="274320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4613225" y="3505200"/>
            <a:ext cx="311367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การบีบอัด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4613225" y="4114800"/>
            <a:ext cx="2965400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ใช้เทคนิค Quantization เพื่อให้ระบบทำงานบนทรัพยากรที่จำกัดได้</a:t>
            </a:r>
            <a:endParaRPr/>
          </a:p>
        </p:txBody>
      </p:sp>
      <p:pic>
        <p:nvPicPr>
          <p:cNvPr descr="image.png" id="119" name="Google Shape;119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9675" y="274320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 txBox="1"/>
          <p:nvPr/>
        </p:nvSpPr>
        <p:spPr>
          <a:xfrm>
            <a:off x="8359675" y="3505200"/>
            <a:ext cx="311382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Client-side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8359675" y="4114800"/>
            <a:ext cx="2965549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อนุมานผลบนเบราว์เซอร์ 100% เพื่อรักษาความปลอดภัยของข้อมูล</a:t>
            </a:r>
            <a:endParaRPr/>
          </a:p>
        </p:txBody>
      </p:sp>
      <p:pic>
        <p:nvPicPr>
          <p:cNvPr descr="image.png" id="122" name="Google Shape;122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38225" y="291465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798962" y="2914650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531125" y="291465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9" name="Google Shape;12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28925"/>
            <a:ext cx="5286375" cy="2352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828925"/>
            <a:ext cx="5286375" cy="2352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6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ขอบเขตของ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การวิจัย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866775" y="312420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เทคโนโลยีหลัก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66775" y="3733800"/>
            <a:ext cx="4695825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เน้นการตรวจสอบข้อความที่สร้างจาก </a:t>
            </a: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Llama 3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ซึ่งมีความแนบเนียนสูง และใช้ </a:t>
            </a: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ONNX Runtime Web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เป็นตัวรันโมเดล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629400" y="312420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ฟังก์ชันการทำงาน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629400" y="3733800"/>
            <a:ext cx="4695825" cy="942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รองรับทั้งการพิมพ์ข้อความ (Text) และการดึงข้อความจากรูปภาพ (OCR) โดยต้องมีความยาวขั้นต่ำ 200 ตัวอักษร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1" name="Google Shape;14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 txBox="1"/>
          <p:nvPr/>
        </p:nvSpPr>
        <p:spPr>
          <a:xfrm>
            <a:off x="571500" y="571500"/>
            <a:ext cx="1160145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การเลือกใช้ 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WangchanBERTa</a:t>
            </a:r>
            <a:endParaRPr/>
          </a:p>
        </p:txBody>
      </p:sp>
      <p:graphicFrame>
        <p:nvGraphicFramePr>
          <p:cNvPr id="143" name="Google Shape;143;p17"/>
          <p:cNvGraphicFramePr/>
          <p:nvPr/>
        </p:nvGraphicFramePr>
        <p:xfrm>
          <a:off x="571500" y="27146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{1928FC53-3159-4281-8B6D-A2CF8C9325DC}</a:tableStyleId>
              </a:tblPr>
              <a:tblGrid>
                <a:gridCol w="3289400"/>
                <a:gridCol w="3069125"/>
                <a:gridCol w="4690475"/>
              </a:tblGrid>
              <a:tr h="64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DEFF9A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คุณสมบัติ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DEFF9A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mBERT / XLM-R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solidFill>
                            <a:srgbClr val="DEFF9A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WangchanBERTa (เลือกใช้)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64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ฐานข้อมูลการฝึกสอน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หลายภาษา (ทั่วไป)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เน้นภาษาไทย (เข้มข้น)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Tokenizer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WordPiece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Byte-level BPE (BBPE)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การจัดการภาษาผสม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ปานกลาง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ดีเยี่ยม</a:t>
                      </a:r>
                      <a:r>
                        <a:rPr b="0" i="0" lang="en-US" sz="1500" u="none" cap="none" strike="noStrike"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(จัดการได้ถึงระดับ Byte)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4" name="Google Shape;144;p17"/>
          <p:cNvSpPr/>
          <p:nvPr/>
        </p:nvSpPr>
        <p:spPr>
          <a:xfrm>
            <a:off x="571500" y="3352800"/>
            <a:ext cx="3289399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3860899" y="3352800"/>
            <a:ext cx="3069133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6930032" y="3352800"/>
            <a:ext cx="4690467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571500" y="4005262"/>
            <a:ext cx="32893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3860899" y="4005262"/>
            <a:ext cx="306913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6930032" y="4005262"/>
            <a:ext cx="4690467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571500" y="4643437"/>
            <a:ext cx="32893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3860899" y="4643437"/>
            <a:ext cx="306913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6930032" y="4643437"/>
            <a:ext cx="4690467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571500" y="5281612"/>
            <a:ext cx="32893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3860899" y="5281612"/>
            <a:ext cx="306913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6930032" y="5281612"/>
            <a:ext cx="4690467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0" name="Google Shape;16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8"/>
          <p:cNvSpPr txBox="1"/>
          <p:nvPr/>
        </p:nvSpPr>
        <p:spPr>
          <a:xfrm>
            <a:off x="571500" y="571500"/>
            <a:ext cx="52008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สถาปัตยกรรม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ระบบ</a:t>
            </a:r>
            <a:endParaRPr/>
          </a:p>
        </p:txBody>
      </p:sp>
      <p:sp>
        <p:nvSpPr>
          <p:cNvPr id="162" name="Google Shape;162;p18"/>
          <p:cNvSpPr txBox="1"/>
          <p:nvPr/>
        </p:nvSpPr>
        <p:spPr>
          <a:xfrm>
            <a:off x="571500" y="1933575"/>
            <a:ext cx="49530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Offline Phase: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ปรับแต่งโมเดลและบีบอัดไฟล์เป็นรูปแบบ .onnx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571500" y="2981325"/>
            <a:ext cx="495300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Deployment Phase: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ติดตั้งแอปพลิเคชันผ่าน Web Server โดยไม่มีการบันทึกข้อมูลผู้ใช้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571500" y="4029075"/>
            <a:ext cx="495300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Inference Phase: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ประมวลผลบนเครื่องผู้ใช้โดยตรง (Zero-Data Leakage)</a:t>
            </a:r>
            <a:endParaRPr/>
          </a:p>
        </p:txBody>
      </p:sp>
      <p:pic>
        <p:nvPicPr>
          <p:cNvPr id="165" name="Google Shape;16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89000" y="990600"/>
            <a:ext cx="4876800" cy="48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0" name="Google Shape;17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ข้อมูลสำหรับ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การฝึกสอนเบื้องต้น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571500" y="4705350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แหล่งข้อมูล: กระทู้ Pantip (มนุษย์) และ Llama 3 Synthetic Data (AI)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1101625" y="2781300"/>
            <a:ext cx="2543175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0" u="none" cap="none" strike="noStrike">
                <a:solidFill>
                  <a:srgbClr val="DEFF9A"/>
                </a:solidFill>
                <a:latin typeface="Sarabun"/>
                <a:ea typeface="Sarabun"/>
                <a:cs typeface="Sarabun"/>
                <a:sym typeface="Sarabun"/>
              </a:rPr>
              <a:t>670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1101625" y="4019550"/>
            <a:ext cx="25431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5F5F5"/>
                </a:solidFill>
                <a:latin typeface="Sarabun"/>
                <a:ea typeface="Sarabun"/>
                <a:cs typeface="Sarabun"/>
                <a:sym typeface="Sarabun"/>
              </a:rPr>
              <a:t>จำนวนชุดข้อมูล (Samples)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4705201" y="2781300"/>
            <a:ext cx="2667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0" u="none" cap="none" strike="noStrike">
                <a:solidFill>
                  <a:srgbClr val="DEFF9A"/>
                </a:solidFill>
                <a:latin typeface="Sarabun"/>
                <a:ea typeface="Sarabun"/>
                <a:cs typeface="Sarabun"/>
                <a:sym typeface="Sarabun"/>
              </a:rPr>
              <a:t>5%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4705201" y="4019550"/>
            <a:ext cx="2667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5F5F5"/>
                </a:solidFill>
                <a:latin typeface="Sarabun"/>
                <a:ea typeface="Sarabun"/>
                <a:cs typeface="Sarabun"/>
                <a:sym typeface="Sarabun"/>
              </a:rPr>
              <a:t>สัดส่วนภาษาผสม (CS Ratio)</a:t>
            </a:r>
            <a:endParaRPr/>
          </a:p>
        </p:txBody>
      </p:sp>
      <p:sp>
        <p:nvSpPr>
          <p:cNvPr id="177" name="Google Shape;177;p19"/>
          <p:cNvSpPr txBox="1"/>
          <p:nvPr/>
        </p:nvSpPr>
        <p:spPr>
          <a:xfrm>
            <a:off x="8432601" y="2781300"/>
            <a:ext cx="2657475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0" u="none" cap="none" strike="noStrike">
                <a:solidFill>
                  <a:srgbClr val="DEFF9A"/>
                </a:solidFill>
                <a:latin typeface="Sarabun"/>
                <a:ea typeface="Sarabun"/>
                <a:cs typeface="Sarabun"/>
                <a:sym typeface="Sarabun"/>
              </a:rPr>
              <a:t>200+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8432601" y="4019550"/>
            <a:ext cx="26574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5F5F5"/>
                </a:solidFill>
                <a:latin typeface="Sarabun"/>
                <a:ea typeface="Sarabun"/>
                <a:cs typeface="Sarabun"/>
                <a:sym typeface="Sarabun"/>
              </a:rPr>
              <a:t>ตัวอักษรขั้นต่ำต่อข้อความ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24025"/>
            <a:ext cx="11049000" cy="45624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ผลการวิจัย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เบื้องต้น</a:t>
            </a:r>
            <a:endParaRPr/>
          </a:p>
        </p:txBody>
      </p:sp>
      <p:sp>
        <p:nvSpPr>
          <p:cNvPr id="186" name="Google Shape;186;p20"/>
          <p:cNvSpPr txBox="1"/>
          <p:nvPr/>
        </p:nvSpPr>
        <p:spPr>
          <a:xfrm>
            <a:off x="571500" y="4410075"/>
            <a:ext cx="11049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* สังเกตได้ว่า AI มักเขียนเนื้อหาที่กระชับกว่ามนุษย์เกือบ 2 เท่า ในหัวข้อที่ใกล้เคียงกัน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1" name="Google Shape;19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77100" y="2338387"/>
            <a:ext cx="43434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1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ระบบ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ต้นแบบ</a:t>
            </a:r>
            <a:endParaRPr/>
          </a:p>
        </p:txBody>
      </p:sp>
      <p:sp>
        <p:nvSpPr>
          <p:cNvPr id="194" name="Google Shape;194;p21"/>
          <p:cNvSpPr txBox="1"/>
          <p:nvPr/>
        </p:nvSpPr>
        <p:spPr>
          <a:xfrm>
            <a:off x="7572375" y="2633662"/>
            <a:ext cx="3940492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UI Features</a:t>
            </a:r>
            <a:endParaRPr/>
          </a:p>
        </p:txBody>
      </p:sp>
      <p:sp>
        <p:nvSpPr>
          <p:cNvPr id="195" name="Google Shape;195;p21"/>
          <p:cNvSpPr txBox="1"/>
          <p:nvPr/>
        </p:nvSpPr>
        <p:spPr>
          <a:xfrm>
            <a:off x="7953375" y="3205162"/>
            <a:ext cx="33718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Privacy Consensus</a:t>
            </a:r>
            <a:endParaRPr/>
          </a:p>
        </p:txBody>
      </p:sp>
      <p:sp>
        <p:nvSpPr>
          <p:cNvPr id="196" name="Google Shape;196;p21"/>
          <p:cNvSpPr txBox="1"/>
          <p:nvPr/>
        </p:nvSpPr>
        <p:spPr>
          <a:xfrm>
            <a:off x="7953375" y="3709987"/>
            <a:ext cx="33718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Dark/Light Mode</a:t>
            </a:r>
            <a:endParaRPr/>
          </a:p>
        </p:txBody>
      </p:sp>
      <p:sp>
        <p:nvSpPr>
          <p:cNvPr id="197" name="Google Shape;197;p21"/>
          <p:cNvSpPr txBox="1"/>
          <p:nvPr/>
        </p:nvSpPr>
        <p:spPr>
          <a:xfrm>
            <a:off x="7953375" y="4214812"/>
            <a:ext cx="33718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Confidence Score (%)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7953375" y="4719637"/>
            <a:ext cx="337185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User Feedback Loop</a:t>
            </a:r>
            <a:endParaRPr/>
          </a:p>
        </p:txBody>
      </p:sp>
      <p:pic>
        <p:nvPicPr>
          <p:cNvPr descr="image.png" id="199" name="Google Shape;199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72375" y="3276600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72375" y="378142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1" name="Google Shape;201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72375" y="4286250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72375" y="4791075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66675" y="2073986"/>
            <a:ext cx="4343401" cy="38625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8" name="Google Shape;20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2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แผนการ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ดำเนินงาน</a:t>
            </a:r>
            <a:endParaRPr/>
          </a:p>
        </p:txBody>
      </p:sp>
      <p:sp>
        <p:nvSpPr>
          <p:cNvPr id="210" name="Google Shape;210;p22"/>
          <p:cNvSpPr/>
          <p:nvPr/>
        </p:nvSpPr>
        <p:spPr>
          <a:xfrm>
            <a:off x="571500" y="4233862"/>
            <a:ext cx="1104900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2"/>
          <p:cNvSpPr txBox="1"/>
          <p:nvPr/>
        </p:nvSpPr>
        <p:spPr>
          <a:xfrm>
            <a:off x="510733" y="3543300"/>
            <a:ext cx="255219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วิเคราะห์ระบบ</a:t>
            </a:r>
            <a:endParaRPr/>
          </a:p>
        </p:txBody>
      </p:sp>
      <p:sp>
        <p:nvSpPr>
          <p:cNvPr id="212" name="Google Shape;212;p22"/>
          <p:cNvSpPr/>
          <p:nvPr/>
        </p:nvSpPr>
        <p:spPr>
          <a:xfrm>
            <a:off x="1691580" y="4019550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DEFF9A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2"/>
          <p:cNvSpPr txBox="1"/>
          <p:nvPr/>
        </p:nvSpPr>
        <p:spPr>
          <a:xfrm>
            <a:off x="571500" y="4419600"/>
            <a:ext cx="243066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ม.ค. - ก.พ. 69 (เสร็จสิ้น)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3383413" y="3543300"/>
            <a:ext cx="255219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พัฒนา UI</a:t>
            </a:r>
            <a:endParaRPr/>
          </a:p>
        </p:txBody>
      </p:sp>
      <p:sp>
        <p:nvSpPr>
          <p:cNvPr id="215" name="Google Shape;215;p22"/>
          <p:cNvSpPr/>
          <p:nvPr/>
        </p:nvSpPr>
        <p:spPr>
          <a:xfrm>
            <a:off x="4564260" y="4019550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DEFF9A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2"/>
          <p:cNvSpPr txBox="1"/>
          <p:nvPr/>
        </p:nvSpPr>
        <p:spPr>
          <a:xfrm>
            <a:off x="3444180" y="4419600"/>
            <a:ext cx="243066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มี.ค. - พ.ค. 69 (65%)</a:t>
            </a:r>
            <a:endParaRPr/>
          </a:p>
        </p:txBody>
      </p:sp>
      <p:sp>
        <p:nvSpPr>
          <p:cNvPr id="217" name="Google Shape;217;p22"/>
          <p:cNvSpPr txBox="1"/>
          <p:nvPr/>
        </p:nvSpPr>
        <p:spPr>
          <a:xfrm>
            <a:off x="6256094" y="3543300"/>
            <a:ext cx="255219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เชื่อมต่อโมเดล</a:t>
            </a:r>
            <a:endParaRPr/>
          </a:p>
        </p:txBody>
      </p:sp>
      <p:sp>
        <p:nvSpPr>
          <p:cNvPr id="218" name="Google Shape;218;p22"/>
          <p:cNvSpPr/>
          <p:nvPr/>
        </p:nvSpPr>
        <p:spPr>
          <a:xfrm>
            <a:off x="7436941" y="4019550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333333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2"/>
          <p:cNvSpPr txBox="1"/>
          <p:nvPr/>
        </p:nvSpPr>
        <p:spPr>
          <a:xfrm>
            <a:off x="6316860" y="4419600"/>
            <a:ext cx="243066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ส.ค. - ก.ย. 69</a:t>
            </a:r>
            <a:endParaRPr/>
          </a:p>
        </p:txBody>
      </p:sp>
      <p:sp>
        <p:nvSpPr>
          <p:cNvPr id="220" name="Google Shape;220;p22"/>
          <p:cNvSpPr txBox="1"/>
          <p:nvPr/>
        </p:nvSpPr>
        <p:spPr>
          <a:xfrm>
            <a:off x="9128774" y="3543300"/>
            <a:ext cx="255219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สรุปผลโครงงาน</a:t>
            </a:r>
            <a:endParaRPr/>
          </a:p>
        </p:txBody>
      </p:sp>
      <p:sp>
        <p:nvSpPr>
          <p:cNvPr id="221" name="Google Shape;221;p22"/>
          <p:cNvSpPr/>
          <p:nvPr/>
        </p:nvSpPr>
        <p:spPr>
          <a:xfrm>
            <a:off x="10309621" y="4019550"/>
            <a:ext cx="190500" cy="190500"/>
          </a:xfrm>
          <a:prstGeom prst="roundRect">
            <a:avLst>
              <a:gd fmla="val 50000" name="adj"/>
            </a:avLst>
          </a:prstGeom>
          <a:solidFill>
            <a:srgbClr val="333333"/>
          </a:solidFill>
          <a:ln cap="flat" cmpd="sng" w="381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9189541" y="4419600"/>
            <a:ext cx="243066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พ.ย. - ธ.ค. 69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7" name="Google Shape;22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3"/>
          <p:cNvSpPr txBox="1"/>
          <p:nvPr/>
        </p:nvSpPr>
        <p:spPr>
          <a:xfrm>
            <a:off x="571500" y="571500"/>
            <a:ext cx="116016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050" u="none" cap="none" strike="noStrike">
                <a:solidFill>
                  <a:srgbClr val="F5F5F5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ความท้าทายและ</a:t>
            </a:r>
            <a:r>
              <a:rPr b="0" i="0" lang="en-US" sz="4050" u="none" cap="none" strike="noStrike">
                <a:solidFill>
                  <a:srgbClr val="DEFF9A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ข้อเสนอแนะ</a:t>
            </a:r>
            <a:endParaRPr/>
          </a:p>
        </p:txBody>
      </p:sp>
      <p:sp>
        <p:nvSpPr>
          <p:cNvPr id="229" name="Google Shape;229;p23"/>
          <p:cNvSpPr txBox="1"/>
          <p:nvPr/>
        </p:nvSpPr>
        <p:spPr>
          <a:xfrm>
            <a:off x="952500" y="2995612"/>
            <a:ext cx="10668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Inference Speed: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การรักษาความเร็วในอุปกรณ์ที่มีทรัพยากรจำกัด</a:t>
            </a:r>
            <a:endParaRPr/>
          </a:p>
        </p:txBody>
      </p:sp>
      <p:sp>
        <p:nvSpPr>
          <p:cNvPr id="230" name="Google Shape;230;p23"/>
          <p:cNvSpPr txBox="1"/>
          <p:nvPr/>
        </p:nvSpPr>
        <p:spPr>
          <a:xfrm>
            <a:off x="952500" y="3500437"/>
            <a:ext cx="10668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Accuracy: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การรักษาสมดุลหลังจากการทำ Model Quantization</a:t>
            </a:r>
            <a:endParaRPr/>
          </a:p>
        </p:txBody>
      </p:sp>
      <p:sp>
        <p:nvSpPr>
          <p:cNvPr id="231" name="Google Shape;231;p23"/>
          <p:cNvSpPr txBox="1"/>
          <p:nvPr/>
        </p:nvSpPr>
        <p:spPr>
          <a:xfrm>
            <a:off x="952500" y="4005262"/>
            <a:ext cx="10668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Evolving AI: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การปรับแต่งโมเดลให้ทันต่อการพัฒนาของ LLMs รุ่นใหม่ๆ</a:t>
            </a:r>
            <a:endParaRPr/>
          </a:p>
        </p:txBody>
      </p:sp>
      <p:sp>
        <p:nvSpPr>
          <p:cNvPr id="232" name="Google Shape;232;p23"/>
          <p:cNvSpPr txBox="1"/>
          <p:nvPr/>
        </p:nvSpPr>
        <p:spPr>
          <a:xfrm>
            <a:off x="952500" y="4510087"/>
            <a:ext cx="1066800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Active Learning: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การนำ Feedback จริงมาปรับปรุงโมเดลอย่างต่อเนื่อง</a:t>
            </a:r>
            <a:endParaRPr/>
          </a:p>
        </p:txBody>
      </p:sp>
      <p:pic>
        <p:nvPicPr>
          <p:cNvPr descr="image.png" id="233" name="Google Shape;23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067050"/>
            <a:ext cx="18097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571875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6700"/>
            <a:ext cx="26670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581525"/>
            <a:ext cx="1809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4"/>
          <p:cNvSpPr txBox="1"/>
          <p:nvPr/>
        </p:nvSpPr>
        <p:spPr>
          <a:xfrm>
            <a:off x="295275" y="1504950"/>
            <a:ext cx="116014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Q &amp; A</a:t>
            </a:r>
            <a:endParaRPr/>
          </a:p>
        </p:txBody>
      </p:sp>
      <p:sp>
        <p:nvSpPr>
          <p:cNvPr id="243" name="Google Shape;243;p24"/>
          <p:cNvSpPr txBox="1"/>
          <p:nvPr/>
        </p:nvSpPr>
        <p:spPr>
          <a:xfrm>
            <a:off x="571500" y="3048000"/>
            <a:ext cx="11049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ขอบคุณสำหรับการรับฟังและยินดีรับฟังคำชี้แนะ</a:t>
            </a:r>
            <a:endParaRPr/>
          </a:p>
        </p:txBody>
      </p:sp>
      <p:sp>
        <p:nvSpPr>
          <p:cNvPr id="244" name="Google Shape;244;p24"/>
          <p:cNvSpPr txBox="1"/>
          <p:nvPr/>
        </p:nvSpPr>
        <p:spPr>
          <a:xfrm>
            <a:off x="571500" y="4095750"/>
            <a:ext cx="11049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ช่องทางติดต่อ: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 chitipat.j</a:t>
            </a:r>
            <a:r>
              <a:rPr lang="en-US" sz="1650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am</a:t>
            </a:r>
            <a:r>
              <a:rPr b="0" i="0" lang="en-US" sz="1650" u="none" cap="none" strike="noStrike">
                <a:solidFill>
                  <a:srgbClr val="DAFFDE"/>
                </a:solidFill>
                <a:latin typeface="Sarabun"/>
                <a:ea typeface="Sarabun"/>
                <a:cs typeface="Sarabun"/>
                <a:sym typeface="Sarabun"/>
              </a:rPr>
              <a:t>@dome.tu.ac.th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
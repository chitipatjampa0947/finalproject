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Poppins Medium" panose="00000600000000000000" pitchFamily="2" charset="0"/>
      <p:regular r:id="rId19"/>
      <p:bold r:id="rId20"/>
      <p:italic r:id="rId21"/>
      <p:boldItalic r:id="rId22"/>
    </p:embeddedFont>
    <p:embeddedFont>
      <p:font typeface="Sarabun" panose="020B0604020202020204" charset="-34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F79270-3300-4FA8-AFB3-2D754038AFAD}" v="3" dt="2026-05-05T12:39:18.736"/>
  </p1510:revLst>
</p1510:revInfo>
</file>

<file path=ppt/tableStyles.xml><?xml version="1.0" encoding="utf-8"?>
<a:tblStyleLst xmlns:a="http://schemas.openxmlformats.org/drawingml/2006/main" def="{1928FC53-3159-4281-8B6D-A2CF8C9325DC}">
  <a:tblStyle styleId="{1928FC53-3159-4281-8B6D-A2CF8C9325D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tipat jampa" userId="c6eba35e-b145-48d9-aab0-f8f1beb4561d" providerId="ADAL" clId="{DD2960D5-C8AF-4572-8126-72C502F06E0D}"/>
    <pc:docChg chg="undo custSel modSld">
      <pc:chgData name="chitipat jampa" userId="c6eba35e-b145-48d9-aab0-f8f1beb4561d" providerId="ADAL" clId="{DD2960D5-C8AF-4572-8126-72C502F06E0D}" dt="2026-05-05T12:39:18.736" v="20"/>
      <pc:docMkLst>
        <pc:docMk/>
      </pc:docMkLst>
      <pc:sldChg chg="addSp delSp modSp mod">
        <pc:chgData name="chitipat jampa" userId="c6eba35e-b145-48d9-aab0-f8f1beb4561d" providerId="ADAL" clId="{DD2960D5-C8AF-4572-8126-72C502F06E0D}" dt="2026-05-05T12:39:18.736" v="20"/>
        <pc:sldMkLst>
          <pc:docMk/>
          <pc:sldMk cId="0" sldId="264"/>
        </pc:sldMkLst>
        <pc:spChg chg="add del">
          <ac:chgData name="chitipat jampa" userId="c6eba35e-b145-48d9-aab0-f8f1beb4561d" providerId="ADAL" clId="{DD2960D5-C8AF-4572-8126-72C502F06E0D}" dt="2026-05-05T12:38:04.923" v="2" actId="22"/>
          <ac:spMkLst>
            <pc:docMk/>
            <pc:sldMk cId="0" sldId="264"/>
            <ac:spMk id="3" creationId="{DCE99F0A-C313-F532-ACEF-B627D42D2370}"/>
          </ac:spMkLst>
        </pc:spChg>
        <pc:spChg chg="add mod">
          <ac:chgData name="chitipat jampa" userId="c6eba35e-b145-48d9-aab0-f8f1beb4561d" providerId="ADAL" clId="{DD2960D5-C8AF-4572-8126-72C502F06E0D}" dt="2026-05-05T12:39:18.736" v="20"/>
          <ac:spMkLst>
            <pc:docMk/>
            <pc:sldMk cId="0" sldId="264"/>
            <ac:spMk id="6" creationId="{EDE520C5-034B-77B8-3CE4-43899FDF06F0}"/>
          </ac:spMkLst>
        </pc:spChg>
        <pc:picChg chg="add mod">
          <ac:chgData name="chitipat jampa" userId="c6eba35e-b145-48d9-aab0-f8f1beb4561d" providerId="ADAL" clId="{DD2960D5-C8AF-4572-8126-72C502F06E0D}" dt="2026-05-05T12:38:29.805" v="7" actId="1076"/>
          <ac:picMkLst>
            <pc:docMk/>
            <pc:sldMk cId="0" sldId="264"/>
            <ac:picMk id="5" creationId="{4B75A319-FD98-6D03-E4BF-CA66DE74AE5E}"/>
          </ac:picMkLst>
        </pc:picChg>
        <pc:picChg chg="del">
          <ac:chgData name="chitipat jampa" userId="c6eba35e-b145-48d9-aab0-f8f1beb4561d" providerId="ADAL" clId="{DD2960D5-C8AF-4572-8126-72C502F06E0D}" dt="2026-05-05T12:37:12.136" v="0" actId="478"/>
          <ac:picMkLst>
            <pc:docMk/>
            <pc:sldMk cId="0" sldId="264"/>
            <ac:picMk id="20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final-project-go2nn5xzg-chitipat92547-7679s-projects.vercel.app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472654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ระบบตรวจจับข้อความ </a:t>
            </a:r>
            <a:r>
              <a:rPr lang="en-US" sz="48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AI</a:t>
            </a:r>
            <a:r>
              <a:rPr lang="en-US" sz="48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สำหรับภาษาไทยและอังกฤษแบบผสม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099345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โครงการวิจัยความก้าวหน้า (Oral Presentation)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337595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ผู้เขียน: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 นายชิติพัทธ์ จำปา | </a:t>
            </a:r>
            <a:r>
              <a:rPr lang="en-US" sz="1650" b="1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อาจารย์ที่ปรึกษา: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 ผศ.ดร.ปกรณ์ ลี้สุทธิพรชัย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86147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สาขาวิชาวิทยาการคอมพิวเตอร์ คณะวิทยาศาสตร์และเทคโนโลยี มหาวิทยาลัยธรรมศาสตร์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600" y="2100262"/>
            <a:ext cx="52959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571500"/>
            <a:ext cx="11601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5F5F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ความสำคัญของ</a:t>
            </a:r>
            <a:r>
              <a:rPr lang="en-US" sz="4050" b="0" i="0" u="none" strike="noStrike" cap="none">
                <a:solidFill>
                  <a:srgbClr val="DEFF9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โครงการ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309812"/>
            <a:ext cx="52768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การเติบโตของ LLMs นำมาซึ่งความท้าทายใหม่ในประเทศไทย: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52500" y="2833687"/>
            <a:ext cx="48958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ความซับซ้อนของการใช้ภาษาไทยปนอังกฤษ (Code-switching)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52500" y="3652837"/>
            <a:ext cx="48958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ความกังวลด้านความเป็นส่วนตัว (Data Privacy)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4157662"/>
            <a:ext cx="48958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ข้อจำกัดของระบบเดิมที่ต้องพึ่งพา Server-side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051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24275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2291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/>
          <p:cNvPicPr preferRelativeResize="0"/>
          <p:nvPr/>
        </p:nvPicPr>
        <p:blipFill rotWithShape="1">
          <a:blip r:embed="rId8">
            <a:alphaModFix/>
          </a:blip>
          <a:srcRect l="-2303" t="-6208" r="-1918" b="-6671"/>
          <a:stretch/>
        </p:blipFill>
        <p:spPr>
          <a:xfrm>
            <a:off x="6324600" y="2100250"/>
            <a:ext cx="5276851" cy="380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47925"/>
            <a:ext cx="3555950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447925"/>
            <a:ext cx="3555950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447925"/>
            <a:ext cx="3556099" cy="31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571500"/>
            <a:ext cx="11601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5F5F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วัตถุประสงค์</a:t>
            </a:r>
            <a:r>
              <a:rPr lang="en-US" sz="4050" b="0" i="0" u="none" strike="noStrike" cap="none">
                <a:solidFill>
                  <a:srgbClr val="DEFF9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หลัก</a:t>
            </a:r>
            <a:endParaRPr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7432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66775" y="3505200"/>
            <a:ext cx="311367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การจำแนก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66775" y="4114800"/>
            <a:ext cx="29654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พัฒนาแบบจำลอง WangchanBERTa เพื่อจำแนกข้อความภาษาผสมได้อย่างแม่นยำ</a:t>
            </a:r>
            <a:endParaRPr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225" y="27432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4613225" y="3505200"/>
            <a:ext cx="311367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การบีบอัด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613225" y="4114800"/>
            <a:ext cx="29654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ใช้เทคนิค Quantization เพื่อให้ระบบทำงานบนทรัพยากรที่จำกัดได้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27432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8359675" y="3505200"/>
            <a:ext cx="311382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Client-side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359675" y="4114800"/>
            <a:ext cx="2965549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อนุมานผลบนเบราว์เซอร์ 100% เพื่อรักษาความปลอดภัยของข้อมูล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38225" y="29146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98962" y="29146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531125" y="2914650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28925"/>
            <a:ext cx="5286375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828925"/>
            <a:ext cx="5286375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571500"/>
            <a:ext cx="11601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5F5F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ขอบเขตของ</a:t>
            </a:r>
            <a:r>
              <a:rPr lang="en-US" sz="4050" b="0" i="0" u="none" strike="noStrike" cap="none">
                <a:solidFill>
                  <a:srgbClr val="DEFF9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การวิจัย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66775" y="3124200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เทคโนโลยีหลัก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66775" y="3733800"/>
            <a:ext cx="469582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เน้นการตรวจสอบข้อความที่สร้างจาก </a:t>
            </a:r>
            <a:r>
              <a:rPr lang="en-US" sz="1650" b="1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Llama 3</a:t>
            </a: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 ซึ่งมีความแนบเนียนสูง และใช้ </a:t>
            </a:r>
            <a:r>
              <a:rPr lang="en-US" sz="1650" b="1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ONNX Runtime Web</a:t>
            </a: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 เป็นตัวรันโมเดล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629400" y="3124200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ฟังก์ชันการทำงาน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629400" y="3733800"/>
            <a:ext cx="469582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รองรับทั้งการพิมพ์ข้อความ (Text) และการดึงข้อความจากรูปภาพ (OCR) โดยต้องมีความยาวขั้นต่ำ 200 ตัวอักษร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571500" y="571500"/>
            <a:ext cx="11601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5F5F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การเลือกใช้ </a:t>
            </a:r>
            <a:r>
              <a:rPr lang="en-US" sz="4050" b="0" i="0" u="none" strike="noStrike" cap="none">
                <a:solidFill>
                  <a:srgbClr val="DEFF9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WangchanBERTa</a:t>
            </a:r>
            <a:endParaRPr/>
          </a:p>
        </p:txBody>
      </p:sp>
      <p:graphicFrame>
        <p:nvGraphicFramePr>
          <p:cNvPr id="143" name="Google Shape;143;p17"/>
          <p:cNvGraphicFramePr/>
          <p:nvPr/>
        </p:nvGraphicFramePr>
        <p:xfrm>
          <a:off x="571500" y="27146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{1928FC53-3159-4281-8B6D-A2CF8C9325DC}</a:tableStyleId>
              </a:tblPr>
              <a:tblGrid>
                <a:gridCol w="328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DEFF9A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คุณสมบัติ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DEFF9A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mBERT / XLM-R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DEFF9A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WangchanBERTa (เลือกใช้)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ฐานข้อมูลการฝึกสอน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หลายภาษา (ทั่วไป)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เน้นภาษาไทย (เข้มข้น)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Tokenizer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WordPiece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Byte-level BPE (BBPE)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การจัดการภาษาผสม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ปานกลาง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ดีเยี่ยม</a:t>
                      </a:r>
                      <a:r>
                        <a:rPr lang="en-US" sz="1500" b="0" i="0" u="none" strike="noStrike" cap="none"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(จัดการได้ถึงระดับ Byte)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4" name="Google Shape;144;p17"/>
          <p:cNvSpPr/>
          <p:nvPr/>
        </p:nvSpPr>
        <p:spPr>
          <a:xfrm>
            <a:off x="571500" y="3352800"/>
            <a:ext cx="3289399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3860899" y="3352800"/>
            <a:ext cx="3069133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6930032" y="3352800"/>
            <a:ext cx="4690467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571500" y="4005262"/>
            <a:ext cx="328939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3860899" y="4005262"/>
            <a:ext cx="306913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6930032" y="4005262"/>
            <a:ext cx="469046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71500" y="4643437"/>
            <a:ext cx="328939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3860899" y="4643437"/>
            <a:ext cx="306913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6930032" y="4643437"/>
            <a:ext cx="469046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71500" y="5281612"/>
            <a:ext cx="328939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3860899" y="5281612"/>
            <a:ext cx="306913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6930032" y="5281612"/>
            <a:ext cx="469046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571500" y="571500"/>
            <a:ext cx="52008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5F5F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สถาปัตยกรรม</a:t>
            </a:r>
            <a:r>
              <a:rPr lang="en-US" sz="4050" b="0" i="0" u="none" strike="noStrike" cap="none">
                <a:solidFill>
                  <a:srgbClr val="DEFF9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ระบบ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71500" y="1933575"/>
            <a:ext cx="4953000" cy="6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Offline Phase: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 ปรับแต่งโมเดลและบีบอัดไฟล์เป็นรูปแบบ .onnx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2981325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Deployment Phase: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 ติดตั้งแอปพลิเคชันผ่าน Web Server โดยไม่มีการบันทึกข้อมูลผู้ใช้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4029075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Inference Phase: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 ประมวลผลบนเครื่องผู้ใช้โดยตรง (Zero-Data Leakage)</a:t>
            </a:r>
            <a:endParaRPr/>
          </a:p>
        </p:txBody>
      </p:sp>
      <p:pic>
        <p:nvPicPr>
          <p:cNvPr id="165" name="Google Shape;16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9000" y="99060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571500" y="571500"/>
            <a:ext cx="11601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5F5F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ข้อมูลสำหรับ</a:t>
            </a:r>
            <a:r>
              <a:rPr lang="en-US" sz="4050" b="0" i="0" u="none" strike="noStrike" cap="none">
                <a:solidFill>
                  <a:srgbClr val="DEFF9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การฝึกสอนเบื้องต้น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571500" y="470535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แหล่งข้อมูล: กระทู้ Pantip (มนุษย์) และ Llama 3 Synthetic Data (AI)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1101625" y="2781300"/>
            <a:ext cx="25431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DEFF9A"/>
                </a:solidFill>
                <a:latin typeface="Sarabun"/>
                <a:ea typeface="Sarabun"/>
                <a:cs typeface="Sarabun"/>
                <a:sym typeface="Sarabun"/>
              </a:rPr>
              <a:t>670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1101625" y="4019550"/>
            <a:ext cx="2543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5F5F5"/>
                </a:solidFill>
                <a:latin typeface="Sarabun"/>
                <a:ea typeface="Sarabun"/>
                <a:cs typeface="Sarabun"/>
                <a:sym typeface="Sarabun"/>
              </a:rPr>
              <a:t>จำนวนชุดข้อมูล (Samples)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4705201" y="2781300"/>
            <a:ext cx="2667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DEFF9A"/>
                </a:solidFill>
                <a:latin typeface="Sarabun"/>
                <a:ea typeface="Sarabun"/>
                <a:cs typeface="Sarabun"/>
                <a:sym typeface="Sarabun"/>
              </a:rPr>
              <a:t>5%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4705201" y="401955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5F5F5"/>
                </a:solidFill>
                <a:latin typeface="Sarabun"/>
                <a:ea typeface="Sarabun"/>
                <a:cs typeface="Sarabun"/>
                <a:sym typeface="Sarabun"/>
              </a:rPr>
              <a:t>สัดส่วนภาษาผสม (CS Ratio)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8432601" y="2781300"/>
            <a:ext cx="26574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DEFF9A"/>
                </a:solidFill>
                <a:latin typeface="Sarabun"/>
                <a:ea typeface="Sarabun"/>
                <a:cs typeface="Sarabun"/>
                <a:sym typeface="Sarabun"/>
              </a:rPr>
              <a:t>200+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8432601" y="4019550"/>
            <a:ext cx="2657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5F5F5"/>
                </a:solidFill>
                <a:latin typeface="Sarabun"/>
                <a:ea typeface="Sarabun"/>
                <a:cs typeface="Sarabun"/>
                <a:sym typeface="Sarabun"/>
              </a:rPr>
              <a:t>ตัวอักษรขั้นต่ำต่อข้อความ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24025"/>
            <a:ext cx="11049000" cy="456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571500" y="571500"/>
            <a:ext cx="11601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5F5F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ผลการวิจัย</a:t>
            </a:r>
            <a:r>
              <a:rPr lang="en-US" sz="4050" b="0" i="0" u="none" strike="noStrike" cap="none">
                <a:solidFill>
                  <a:srgbClr val="DEFF9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เบื้องต้น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571500" y="4410075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* สังเกตได้ว่า AI มักเขียนเนื้อหาที่กระชับกว่ามนุษย์เกือบ 2 เท่า ในหัวข้อที่ใกล้เคียงกัน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77100" y="2338387"/>
            <a:ext cx="43434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571500" y="571500"/>
            <a:ext cx="11601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5F5F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ระบบ</a:t>
            </a:r>
            <a:r>
              <a:rPr lang="en-US" sz="4050" b="0" i="0" u="none" strike="noStrike" cap="none">
                <a:solidFill>
                  <a:srgbClr val="DEFF9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ต้นแบบ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7572375" y="2633662"/>
            <a:ext cx="394049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UI Features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7953375" y="3205162"/>
            <a:ext cx="33718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Privacy Consensus</a:t>
            </a:r>
            <a:endParaRPr dirty="0"/>
          </a:p>
        </p:txBody>
      </p:sp>
      <p:sp>
        <p:nvSpPr>
          <p:cNvPr id="196" name="Google Shape;196;p21"/>
          <p:cNvSpPr txBox="1"/>
          <p:nvPr/>
        </p:nvSpPr>
        <p:spPr>
          <a:xfrm>
            <a:off x="7953375" y="3709987"/>
            <a:ext cx="33718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Dark/Light Mode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7953375" y="4214812"/>
            <a:ext cx="33718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Confidence Score (%)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7953375" y="4719637"/>
            <a:ext cx="33718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User Feedback Loop</a:t>
            </a:r>
            <a:endParaRPr/>
          </a:p>
        </p:txBody>
      </p:sp>
      <p:pic>
        <p:nvPicPr>
          <p:cNvPr id="199" name="Google Shape;19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72375" y="327660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72375" y="378142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72375" y="428625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72375" y="479107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75A319-FD98-6D03-E4BF-CA66DE74AE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4262" y="1903561"/>
            <a:ext cx="3768576" cy="3768576"/>
          </a:xfrm>
          <a:prstGeom prst="rect">
            <a:avLst/>
          </a:prstGeom>
        </p:spPr>
      </p:pic>
      <p:sp>
        <p:nvSpPr>
          <p:cNvPr id="6" name="Google Shape;195;p21">
            <a:hlinkClick r:id="rId7"/>
            <a:extLst>
              <a:ext uri="{FF2B5EF4-FFF2-40B4-BE49-F238E27FC236}">
                <a16:creationId xmlns:a16="http://schemas.microsoft.com/office/drawing/2014/main" id="{EDE520C5-034B-77B8-3CE4-43899FDF06F0}"/>
              </a:ext>
            </a:extLst>
          </p:cNvPr>
          <p:cNvSpPr txBox="1"/>
          <p:nvPr/>
        </p:nvSpPr>
        <p:spPr>
          <a:xfrm>
            <a:off x="1907397" y="5882790"/>
            <a:ext cx="346230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800" i="1" u="sng" dirty="0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https://final-project-go2nn5xzg-chitipat92547-7679s-projects.vercel.app/</a:t>
            </a:r>
            <a:endParaRPr sz="800" i="1" u="sng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571500" y="571500"/>
            <a:ext cx="11601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5F5F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แผนการ</a:t>
            </a:r>
            <a:r>
              <a:rPr lang="en-US" sz="4050" b="0" i="0" u="none" strike="noStrike" cap="none">
                <a:solidFill>
                  <a:srgbClr val="DEFF9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ดำเนินงาน</a:t>
            </a: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571500" y="4233862"/>
            <a:ext cx="110490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510733" y="3543300"/>
            <a:ext cx="255219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วิเคราะห์ระบบ</a:t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1691580" y="40195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571500" y="4419600"/>
            <a:ext cx="243066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ม.ค. - ก.พ. 69 (เสร็จสิ้น)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3383413" y="3543300"/>
            <a:ext cx="255219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พัฒนา UI</a:t>
            </a: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4564260" y="40195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3444180" y="4419600"/>
            <a:ext cx="243066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มี.ค. - พ.ค. 69 (65%)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6256094" y="3543300"/>
            <a:ext cx="255219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เชื่อมต่อโมเดล</a:t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7436941" y="40195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6316860" y="4419600"/>
            <a:ext cx="243066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ส.ค. - ก.ย. 69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9128774" y="3543300"/>
            <a:ext cx="255219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สรุปผลโครงงาน</a:t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10309621" y="40195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9189541" y="4419600"/>
            <a:ext cx="243066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พ.ย. - ธ.ค. 69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571500" y="571500"/>
            <a:ext cx="11601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5F5F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ความท้าทายและ</a:t>
            </a:r>
            <a:r>
              <a:rPr lang="en-US" sz="4050" b="0" i="0" u="none" strike="noStrike" cap="none">
                <a:solidFill>
                  <a:srgbClr val="DEFF9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ข้อเสนอแนะ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952500" y="2995612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Inference Speed: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 การรักษาความเร็วในอุปกรณ์ที่มีทรัพยากรจำกัด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952500" y="3500437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Accuracy: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 การรักษาสมดุลหลังจากการทำ Model Quantization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952500" y="4005262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Evolving AI: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 การปรับแต่งโมเดลให้ทันต่อการพัฒนาของ LLMs รุ่นใหม่ๆ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952500" y="4510087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Active Learning: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 การนำ Feedback จริงมาปรับปรุงโมเดลอย่างต่อเนื่อง</a:t>
            </a:r>
            <a:endParaRPr/>
          </a:p>
        </p:txBody>
      </p:sp>
      <p:pic>
        <p:nvPicPr>
          <p:cNvPr id="233" name="Google Shape;23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6705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71875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76700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581525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4"/>
          <p:cNvSpPr txBox="1"/>
          <p:nvPr/>
        </p:nvSpPr>
        <p:spPr>
          <a:xfrm>
            <a:off x="295275" y="1504950"/>
            <a:ext cx="116014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Q &amp; A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571500" y="3048000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ขอบคุณสำหรับการรับฟังและยินดีรับฟังคำชี้แนะ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571500" y="4095750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ช่องทางติดต่อ: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 chitipat.j</a:t>
            </a:r>
            <a:r>
              <a:rPr lang="en-US" sz="1650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am</a:t>
            </a:r>
            <a:r>
              <a:rPr lang="en-US" sz="1650" b="0" i="0" u="none" strike="noStrike" cap="none">
                <a:solidFill>
                  <a:srgbClr val="DAFFDE"/>
                </a:solidFill>
                <a:latin typeface="Sarabun"/>
                <a:ea typeface="Sarabun"/>
                <a:cs typeface="Sarabun"/>
                <a:sym typeface="Sarabun"/>
              </a:rPr>
              <a:t>@dome.tu.ac.th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483</Words>
  <Application>Microsoft Office PowerPoint</Application>
  <PresentationFormat>Widescreen</PresentationFormat>
  <Paragraphs>72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Sarabun</vt:lpstr>
      <vt:lpstr>Arial</vt:lpstr>
      <vt:lpstr>Poppins</vt:lpstr>
      <vt:lpstr>Poppins Medium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chitipat jampa</cp:lastModifiedBy>
  <cp:revision>1</cp:revision>
  <dcterms:modified xsi:type="dcterms:W3CDTF">2026-05-05T12:39:22Z</dcterms:modified>
</cp:coreProperties>
</file>